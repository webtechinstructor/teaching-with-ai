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sldIdLst>
    <p:sldId id="611" r:id="rId5"/>
    <p:sldId id="646" r:id="rId6"/>
    <p:sldId id="352" r:id="rId7"/>
    <p:sldId id="648" r:id="rId8"/>
    <p:sldId id="649" r:id="rId9"/>
    <p:sldId id="655" r:id="rId10"/>
    <p:sldId id="647" r:id="rId11"/>
    <p:sldId id="654" r:id="rId12"/>
    <p:sldId id="65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5597"/>
    <a:srgbClr val="0068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289" autoAdjust="0"/>
  </p:normalViewPr>
  <p:slideViewPr>
    <p:cSldViewPr>
      <p:cViewPr varScale="1">
        <p:scale>
          <a:sx n="74" d="100"/>
          <a:sy n="74" d="100"/>
        </p:scale>
        <p:origin x="936"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6932E3-862D-4039-BB55-9B5B50048675}" type="datetimeFigureOut">
              <a:rPr lang="en-US" smtClean="0"/>
              <a:t>1/27/2026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3F0A69-8DAF-4A68-9573-60988BC2F678}" type="slidenum">
              <a:rPr lang="en-US" smtClean="0"/>
              <a:t>‹#›</a:t>
            </a:fld>
            <a:endParaRPr lang="en-US"/>
          </a:p>
        </p:txBody>
      </p:sp>
    </p:spTree>
    <p:extLst>
      <p:ext uri="{BB962C8B-B14F-4D97-AF65-F5344CB8AC3E}">
        <p14:creationId xmlns:p14="http://schemas.microsoft.com/office/powerpoint/2010/main" val="2413707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3F0A69-8DAF-4A68-9573-60988BC2F678}" type="slidenum">
              <a:rPr lang="en-US" smtClean="0"/>
              <a:t>9</a:t>
            </a:fld>
            <a:endParaRPr lang="en-US"/>
          </a:p>
        </p:txBody>
      </p:sp>
    </p:spTree>
    <p:extLst>
      <p:ext uri="{BB962C8B-B14F-4D97-AF65-F5344CB8AC3E}">
        <p14:creationId xmlns:p14="http://schemas.microsoft.com/office/powerpoint/2010/main" val="327163204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UALR">
    <p:bg>
      <p:bgPr>
        <a:blipFill dpi="0" rotWithShape="1">
          <a:blip r:embed="rId2">
            <a:alphaModFix amt="19000"/>
            <a:extLst>
              <a:ext uri="{BEBA8EAE-BF5A-486C-A8C5-ECC9F3942E4B}">
                <a14:imgProps xmlns:a14="http://schemas.microsoft.com/office/drawing/2010/main">
                  <a14:imgLayer r:embed="rId3">
                    <a14:imgEffect>
                      <a14:sharpenSoften amount="-30000"/>
                    </a14:imgEffect>
                    <a14:imgEffect>
                      <a14:brightnessContrast bright="25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877209"/>
            <a:ext cx="10363200" cy="1470025"/>
          </a:xfrm>
        </p:spPr>
        <p:txBody>
          <a:bodyPr/>
          <a:lstStyle>
            <a:lvl1pPr>
              <a:defRPr>
                <a:ln>
                  <a:solidFill>
                    <a:schemeClr val="tx1"/>
                  </a:solidFill>
                </a:ln>
                <a:solidFill>
                  <a:srgbClr val="C00000"/>
                </a:solidFill>
                <a:effectLst>
                  <a:outerShdw blurRad="50800" dist="38100" dir="2700000" algn="tl" rotWithShape="0">
                    <a:prstClr val="black">
                      <a:alpha val="40000"/>
                    </a:prstClr>
                  </a:outerShdw>
                </a:effectLst>
                <a:latin typeface="Bookman Old Style" panose="02050604050505020204" pitchFamily="18" charset="0"/>
              </a:defRPr>
            </a:lvl1pPr>
          </a:lstStyle>
          <a:p>
            <a:r>
              <a:rPr lang="en-US" dirty="0"/>
              <a:t>Click to edit Master title style</a:t>
            </a:r>
          </a:p>
        </p:txBody>
      </p:sp>
      <p:sp>
        <p:nvSpPr>
          <p:cNvPr id="3" name="Subtitle 2"/>
          <p:cNvSpPr>
            <a:spLocks noGrp="1"/>
          </p:cNvSpPr>
          <p:nvPr>
            <p:ph type="subTitle" idx="1"/>
          </p:nvPr>
        </p:nvSpPr>
        <p:spPr>
          <a:xfrm>
            <a:off x="1828800" y="3048000"/>
            <a:ext cx="8534400" cy="1752600"/>
          </a:xfrm>
        </p:spPr>
        <p:txBody>
          <a:bodyPr/>
          <a:lstStyle>
            <a:lvl1pPr marL="0" indent="0" algn="ctr">
              <a:buNone/>
              <a:defRPr>
                <a:solidFill>
                  <a:schemeClr val="accent1">
                    <a:lumMod val="75000"/>
                  </a:schemeClr>
                </a:solidFill>
                <a:latin typeface="Baskerville Old Face" panose="02020602080505020303"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7" name="Picture 2" descr="UA Little Rock secondary logo for web.">
            <a:extLst>
              <a:ext uri="{FF2B5EF4-FFF2-40B4-BE49-F238E27FC236}">
                <a16:creationId xmlns:a16="http://schemas.microsoft.com/office/drawing/2014/main" id="{25C58E8E-5387-79DC-DAA2-B87884DB3DFE}"/>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212" y="6125932"/>
            <a:ext cx="1839012" cy="732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654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latin typeface="Baskerville Old Face" panose="02020602080505020303"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accent1">
                    <a:lumMod val="75000"/>
                  </a:schemeClr>
                </a:solidFill>
                <a:latin typeface="Baskerville Old Face" panose="02020602080505020303" pitchFamily="18" charset="0"/>
              </a:defRPr>
            </a:lvl1pPr>
            <a:lvl2pPr>
              <a:defRPr>
                <a:solidFill>
                  <a:schemeClr val="accent1">
                    <a:lumMod val="75000"/>
                  </a:schemeClr>
                </a:solidFill>
                <a:latin typeface="Baskerville Old Face" panose="02020602080505020303" pitchFamily="18" charset="0"/>
              </a:defRPr>
            </a:lvl2pPr>
            <a:lvl3pPr>
              <a:defRPr>
                <a:solidFill>
                  <a:schemeClr val="accent1">
                    <a:lumMod val="75000"/>
                  </a:schemeClr>
                </a:solidFill>
                <a:latin typeface="Baskerville Old Face" panose="02020602080505020303" pitchFamily="18" charset="0"/>
              </a:defRPr>
            </a:lvl3pPr>
            <a:lvl4pPr>
              <a:defRPr>
                <a:solidFill>
                  <a:schemeClr val="accent1">
                    <a:lumMod val="75000"/>
                  </a:schemeClr>
                </a:solidFill>
                <a:latin typeface="Baskerville Old Face" panose="02020602080505020303" pitchFamily="18" charset="0"/>
              </a:defRPr>
            </a:lvl4pPr>
            <a:lvl5pPr>
              <a:defRPr>
                <a:solidFill>
                  <a:schemeClr val="accent1">
                    <a:lumMod val="75000"/>
                  </a:schemeClr>
                </a:solidFill>
                <a:latin typeface="Baskerville Old Face" panose="020206020805050203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737600" y="6400799"/>
            <a:ext cx="2844800" cy="365125"/>
          </a:xfrm>
        </p:spPr>
        <p:txBody>
          <a:bodyPr/>
          <a:lstStyle/>
          <a:p>
            <a:fld id="{6BBD800B-B06C-425E-A9D9-2DFB2FADB111}" type="slidenum">
              <a:rPr lang="en-US" smtClean="0"/>
              <a:t>‹#›</a:t>
            </a:fld>
            <a:endParaRPr lang="en-US" dirty="0"/>
          </a:p>
        </p:txBody>
      </p:sp>
      <p:pic>
        <p:nvPicPr>
          <p:cNvPr id="7" name="Picture 2" descr="UA Little Rock secondary logo for web.">
            <a:extLst>
              <a:ext uri="{FF2B5EF4-FFF2-40B4-BE49-F238E27FC236}">
                <a16:creationId xmlns:a16="http://schemas.microsoft.com/office/drawing/2014/main" id="{4EEFDD5F-ABDE-A280-3C41-747C6A8EC6FD}"/>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2" y="6125932"/>
            <a:ext cx="1839012" cy="732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145445"/>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hank you UAL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1383139"/>
            <a:ext cx="10972800" cy="1143000"/>
          </a:xfrm>
        </p:spPr>
        <p:txBody>
          <a:bodyPr/>
          <a:lstStyle>
            <a:lvl1pPr>
              <a:defRPr b="1">
                <a:solidFill>
                  <a:srgbClr val="C00000"/>
                </a:solidFill>
                <a:latin typeface="Baskerville Old Face" panose="02020602080505020303" pitchFamily="18" charset="0"/>
              </a:defRPr>
            </a:lvl1pPr>
          </a:lstStyle>
          <a:p>
            <a:r>
              <a:rPr lang="en-US" dirty="0"/>
              <a:t>Thank you!</a:t>
            </a:r>
          </a:p>
        </p:txBody>
      </p:sp>
      <p:sp>
        <p:nvSpPr>
          <p:cNvPr id="3" name="Content Placeholder 2"/>
          <p:cNvSpPr>
            <a:spLocks noGrp="1"/>
          </p:cNvSpPr>
          <p:nvPr>
            <p:ph idx="1"/>
          </p:nvPr>
        </p:nvSpPr>
        <p:spPr>
          <a:xfrm>
            <a:off x="3652630" y="2979363"/>
            <a:ext cx="5486400" cy="990599"/>
          </a:xfrm>
        </p:spPr>
        <p:txBody>
          <a:bodyPr/>
          <a:lstStyle>
            <a:lvl1pPr>
              <a:defRPr>
                <a:solidFill>
                  <a:schemeClr val="accent1">
                    <a:lumMod val="75000"/>
                  </a:schemeClr>
                </a:solidFill>
                <a:latin typeface="Baskerville Old Face" panose="02020602080505020303" pitchFamily="18" charset="0"/>
              </a:defRPr>
            </a:lvl1pPr>
            <a:lvl2pPr>
              <a:defRPr>
                <a:solidFill>
                  <a:schemeClr val="accent1">
                    <a:lumMod val="75000"/>
                  </a:schemeClr>
                </a:solidFill>
                <a:latin typeface="Baskerville Old Face" panose="02020602080505020303" pitchFamily="18" charset="0"/>
              </a:defRPr>
            </a:lvl2pPr>
            <a:lvl3pPr>
              <a:defRPr>
                <a:solidFill>
                  <a:schemeClr val="accent1">
                    <a:lumMod val="75000"/>
                  </a:schemeClr>
                </a:solidFill>
                <a:latin typeface="Baskerville Old Face" panose="02020602080505020303" pitchFamily="18" charset="0"/>
              </a:defRPr>
            </a:lvl3pPr>
            <a:lvl4pPr>
              <a:defRPr>
                <a:solidFill>
                  <a:schemeClr val="accent1">
                    <a:lumMod val="75000"/>
                  </a:schemeClr>
                </a:solidFill>
                <a:latin typeface="Baskerville Old Face" panose="02020602080505020303" pitchFamily="18" charset="0"/>
              </a:defRPr>
            </a:lvl4pPr>
            <a:lvl5pPr>
              <a:defRPr>
                <a:solidFill>
                  <a:schemeClr val="accent1">
                    <a:lumMod val="75000"/>
                  </a:schemeClr>
                </a:solidFill>
                <a:latin typeface="Baskerville Old Face" panose="02020602080505020303" pitchFamily="18" charset="0"/>
              </a:defRPr>
            </a:lvl5pPr>
          </a:lstStyle>
          <a:p>
            <a:pPr lvl="0"/>
            <a:r>
              <a:rPr lang="en-US" dirty="0"/>
              <a:t>Click to edit Master text styles</a:t>
            </a:r>
          </a:p>
        </p:txBody>
      </p:sp>
      <p:pic>
        <p:nvPicPr>
          <p:cNvPr id="3082" name="Picture 10" descr="Logos &amp; Wordmarks - Communications and Marketing - UA Little Rock">
            <a:extLst>
              <a:ext uri="{FF2B5EF4-FFF2-40B4-BE49-F238E27FC236}">
                <a16:creationId xmlns:a16="http://schemas.microsoft.com/office/drawing/2014/main" id="{17AC7D03-EA2F-45D1-94D5-3191DE381ACF}"/>
              </a:ext>
            </a:extLst>
          </p:cNvPr>
          <p:cNvPicPr>
            <a:picLocks noChangeAspect="1" noChangeArrowheads="1"/>
          </p:cNvPicPr>
          <p:nvPr userDrawn="1"/>
        </p:nvPicPr>
        <p:blipFill>
          <a:blip r:embed="rId2">
            <a:alphaModFix amt="12000"/>
            <a:extLst>
              <a:ext uri="{28A0092B-C50C-407E-A947-70E740481C1C}">
                <a14:useLocalDpi xmlns:a14="http://schemas.microsoft.com/office/drawing/2010/main" val="0"/>
              </a:ext>
            </a:extLst>
          </a:blip>
          <a:srcRect/>
          <a:stretch>
            <a:fillRect/>
          </a:stretch>
        </p:blipFill>
        <p:spPr bwMode="auto">
          <a:xfrm>
            <a:off x="3810000" y="387356"/>
            <a:ext cx="5171661" cy="6017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3695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761A2A-6061-4887-9650-136BB6C195DD}"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BD800B-B06C-425E-A9D9-2DFB2FADB111}" type="slidenum">
              <a:rPr lang="en-US" smtClean="0"/>
              <a:t>‹#›</a:t>
            </a:fld>
            <a:endParaRPr lang="en-US"/>
          </a:p>
        </p:txBody>
      </p:sp>
    </p:spTree>
    <p:extLst>
      <p:ext uri="{BB962C8B-B14F-4D97-AF65-F5344CB8AC3E}">
        <p14:creationId xmlns:p14="http://schemas.microsoft.com/office/powerpoint/2010/main" val="974943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761A2A-6061-4887-9650-136BB6C195DD}"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BD800B-B06C-425E-A9D9-2DFB2FADB111}" type="slidenum">
              <a:rPr lang="en-US" smtClean="0"/>
              <a:t>‹#›</a:t>
            </a:fld>
            <a:endParaRPr lang="en-US"/>
          </a:p>
        </p:txBody>
      </p:sp>
    </p:spTree>
    <p:extLst>
      <p:ext uri="{BB962C8B-B14F-4D97-AF65-F5344CB8AC3E}">
        <p14:creationId xmlns:p14="http://schemas.microsoft.com/office/powerpoint/2010/main" val="4175095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C761A2A-6061-4887-9650-136BB6C195DD}" type="datetimeFigureOut">
              <a:rPr lang="en-US" smtClean="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BBD800B-B06C-425E-A9D9-2DFB2FADB111}" type="slidenum">
              <a:rPr lang="en-US" smtClean="0"/>
              <a:t>‹#›</a:t>
            </a:fld>
            <a:endParaRPr lang="en-US"/>
          </a:p>
        </p:txBody>
      </p:sp>
    </p:spTree>
    <p:extLst>
      <p:ext uri="{BB962C8B-B14F-4D97-AF65-F5344CB8AC3E}">
        <p14:creationId xmlns:p14="http://schemas.microsoft.com/office/powerpoint/2010/main" val="8383708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C761A2A-6061-4887-9650-136BB6C195DD}"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BBD800B-B06C-425E-A9D9-2DFB2FADB111}" type="slidenum">
              <a:rPr lang="en-US" smtClean="0"/>
              <a:t>‹#›</a:t>
            </a:fld>
            <a:endParaRPr lang="en-US"/>
          </a:p>
        </p:txBody>
      </p:sp>
    </p:spTree>
    <p:extLst>
      <p:ext uri="{BB962C8B-B14F-4D97-AF65-F5344CB8AC3E}">
        <p14:creationId xmlns:p14="http://schemas.microsoft.com/office/powerpoint/2010/main" val="1704498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761A2A-6061-4887-9650-136BB6C195DD}" type="datetimeFigureOut">
              <a:rPr lang="en-US" smtClean="0"/>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BBD800B-B06C-425E-A9D9-2DFB2FADB111}" type="slidenum">
              <a:rPr lang="en-US" smtClean="0"/>
              <a:t>‹#›</a:t>
            </a:fld>
            <a:endParaRPr lang="en-US"/>
          </a:p>
        </p:txBody>
      </p:sp>
    </p:spTree>
    <p:extLst>
      <p:ext uri="{BB962C8B-B14F-4D97-AF65-F5344CB8AC3E}">
        <p14:creationId xmlns:p14="http://schemas.microsoft.com/office/powerpoint/2010/main" val="1639302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761A2A-6061-4887-9650-136BB6C195DD}"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BD800B-B06C-425E-A9D9-2DFB2FADB111}" type="slidenum">
              <a:rPr lang="en-US" smtClean="0"/>
              <a:t>‹#›</a:t>
            </a:fld>
            <a:endParaRPr lang="en-US"/>
          </a:p>
        </p:txBody>
      </p:sp>
    </p:spTree>
    <p:extLst>
      <p:ext uri="{BB962C8B-B14F-4D97-AF65-F5344CB8AC3E}">
        <p14:creationId xmlns:p14="http://schemas.microsoft.com/office/powerpoint/2010/main" val="239997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761A2A-6061-4887-9650-136BB6C195DD}"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BD800B-B06C-425E-A9D9-2DFB2FADB111}" type="slidenum">
              <a:rPr lang="en-US" smtClean="0"/>
              <a:t>‹#›</a:t>
            </a:fld>
            <a:endParaRPr lang="en-US"/>
          </a:p>
        </p:txBody>
      </p:sp>
    </p:spTree>
    <p:extLst>
      <p:ext uri="{BB962C8B-B14F-4D97-AF65-F5344CB8AC3E}">
        <p14:creationId xmlns:p14="http://schemas.microsoft.com/office/powerpoint/2010/main" val="1410656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761A2A-6061-4887-9650-136BB6C195DD}"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BD800B-B06C-425E-A9D9-2DFB2FADB111}" type="slidenum">
              <a:rPr lang="en-US" smtClean="0"/>
              <a:t>‹#›</a:t>
            </a:fld>
            <a:endParaRPr lang="en-US"/>
          </a:p>
        </p:txBody>
      </p:sp>
    </p:spTree>
    <p:extLst>
      <p:ext uri="{BB962C8B-B14F-4D97-AF65-F5344CB8AC3E}">
        <p14:creationId xmlns:p14="http://schemas.microsoft.com/office/powerpoint/2010/main" val="41332428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761A2A-6061-4887-9650-136BB6C195DD}"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BD800B-B06C-425E-A9D9-2DFB2FADB111}" type="slidenum">
              <a:rPr lang="en-US" smtClean="0"/>
              <a:t>‹#›</a:t>
            </a:fld>
            <a:endParaRPr lang="en-US"/>
          </a:p>
        </p:txBody>
      </p:sp>
    </p:spTree>
    <p:extLst>
      <p:ext uri="{BB962C8B-B14F-4D97-AF65-F5344CB8AC3E}">
        <p14:creationId xmlns:p14="http://schemas.microsoft.com/office/powerpoint/2010/main" val="2910726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761A2A-6061-4887-9650-136BB6C195DD}" type="datetimeFigureOut">
              <a:rPr lang="en-US" smtClean="0"/>
              <a:t>1/27/2026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BD800B-B06C-425E-A9D9-2DFB2FADB111}" type="slidenum">
              <a:rPr lang="en-US" smtClean="0"/>
              <a:t>‹#›</a:t>
            </a:fld>
            <a:endParaRPr lang="en-US"/>
          </a:p>
        </p:txBody>
      </p:sp>
    </p:spTree>
    <p:extLst>
      <p:ext uri="{BB962C8B-B14F-4D97-AF65-F5344CB8AC3E}">
        <p14:creationId xmlns:p14="http://schemas.microsoft.com/office/powerpoint/2010/main" val="14922604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cjmartinez@ualr.edu" TargetMode="External"/><Relationship Id="rId2" Type="http://schemas.openxmlformats.org/officeDocument/2006/relationships/hyperlink" Target="mailto:sdabetwar@ualr.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4115A-6159-D144-60C7-813AC5EEF21B}"/>
              </a:ext>
            </a:extLst>
          </p:cNvPr>
          <p:cNvSpPr>
            <a:spLocks noGrp="1"/>
          </p:cNvSpPr>
          <p:nvPr>
            <p:ph type="ctrTitle"/>
          </p:nvPr>
        </p:nvSpPr>
        <p:spPr/>
        <p:txBody>
          <a:bodyPr/>
          <a:lstStyle/>
          <a:p>
            <a:r>
              <a:rPr lang="en-US" dirty="0"/>
              <a:t>MEEG 3379 Elements of Mechanical Design</a:t>
            </a:r>
          </a:p>
        </p:txBody>
      </p:sp>
      <p:sp>
        <p:nvSpPr>
          <p:cNvPr id="3" name="Subtitle 2">
            <a:extLst>
              <a:ext uri="{FF2B5EF4-FFF2-40B4-BE49-F238E27FC236}">
                <a16:creationId xmlns:a16="http://schemas.microsoft.com/office/drawing/2014/main" id="{40D9882A-1471-183F-2199-D7A2BF244ACD}"/>
              </a:ext>
            </a:extLst>
          </p:cNvPr>
          <p:cNvSpPr>
            <a:spLocks noGrp="1"/>
          </p:cNvSpPr>
          <p:nvPr>
            <p:ph type="subTitle" idx="1"/>
          </p:nvPr>
        </p:nvSpPr>
        <p:spPr>
          <a:xfrm>
            <a:off x="1828800" y="3048000"/>
            <a:ext cx="8534400" cy="2438400"/>
          </a:xfrm>
        </p:spPr>
        <p:txBody>
          <a:bodyPr vert="horz" lIns="91440" tIns="45720" rIns="91440" bIns="45720" rtlCol="0" anchor="t">
            <a:normAutofit fontScale="92500" lnSpcReduction="20000"/>
          </a:bodyPr>
          <a:lstStyle/>
          <a:p>
            <a:r>
              <a:rPr lang="en-US" dirty="0"/>
              <a:t>Dr. Shweta Dabetwar</a:t>
            </a:r>
          </a:p>
          <a:p>
            <a:r>
              <a:rPr lang="en-US" dirty="0"/>
              <a:t>(office hours: Every Thursday 12.15-1.15 pm EIT 544)</a:t>
            </a:r>
          </a:p>
          <a:p>
            <a:r>
              <a:rPr lang="en-US" dirty="0">
                <a:hlinkClick r:id="rId2"/>
              </a:rPr>
              <a:t>sdabetwar@ualr.edu</a:t>
            </a:r>
            <a:endParaRPr lang="en-US" dirty="0"/>
          </a:p>
          <a:p>
            <a:r>
              <a:rPr lang="en-US" dirty="0"/>
              <a:t>TA: </a:t>
            </a:r>
            <a:r>
              <a:rPr lang="en-US"/>
              <a:t>Colby Martinez</a:t>
            </a:r>
            <a:endParaRPr lang="en-US" dirty="0"/>
          </a:p>
          <a:p>
            <a:r>
              <a:rPr lang="en-US" dirty="0"/>
              <a:t>(</a:t>
            </a:r>
            <a:r>
              <a:rPr lang="en-US" dirty="0">
                <a:hlinkClick r:id="rId3"/>
              </a:rPr>
              <a:t>cjmartinez@ualr.edu</a:t>
            </a:r>
            <a:r>
              <a:rPr lang="en-US" dirty="0"/>
              <a:t>)</a:t>
            </a:r>
          </a:p>
        </p:txBody>
      </p:sp>
    </p:spTree>
    <p:extLst>
      <p:ext uri="{BB962C8B-B14F-4D97-AF65-F5344CB8AC3E}">
        <p14:creationId xmlns:p14="http://schemas.microsoft.com/office/powerpoint/2010/main" val="899958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F4B32-EC69-6880-A912-F064A3FB46C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424C0C-3048-04D1-FA65-F63A2443EF48}"/>
              </a:ext>
            </a:extLst>
          </p:cNvPr>
          <p:cNvSpPr txBox="1">
            <a:spLocks/>
          </p:cNvSpPr>
          <p:nvPr/>
        </p:nvSpPr>
        <p:spPr>
          <a:xfrm>
            <a:off x="3137558" y="5105400"/>
            <a:ext cx="5916887" cy="1524000"/>
          </a:xfrm>
          <a:prstGeom prst="rect">
            <a:avLst/>
          </a:prstGeom>
        </p:spPr>
        <p:txBody>
          <a:bodyPr vert="horz" lIns="91440" tIns="45720" rIns="91440" bIns="45720" rtlCol="0">
            <a:normAutofit fontScale="62500" lnSpcReduction="20000"/>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US" altLang="en-US" sz="2500" b="1" u="sng" dirty="0">
                <a:solidFill>
                  <a:schemeClr val="tx1"/>
                </a:solidFill>
                <a:latin typeface="Arial" panose="020B0604020202020204" pitchFamily="34" charset="0"/>
                <a:cs typeface="Arial" panose="020B0604020202020204" pitchFamily="34" charset="0"/>
              </a:rPr>
              <a:t>Reference Textbook</a:t>
            </a:r>
          </a:p>
          <a:p>
            <a:r>
              <a:rPr lang="en-US" altLang="en-US" sz="2500" b="1" dirty="0" err="1">
                <a:solidFill>
                  <a:schemeClr val="tx1"/>
                </a:solidFill>
                <a:latin typeface="Arial" panose="020B0604020202020204" pitchFamily="34" charset="0"/>
                <a:cs typeface="Arial" panose="020B0604020202020204" pitchFamily="34" charset="0"/>
              </a:rPr>
              <a:t>Shigley's</a:t>
            </a:r>
            <a:r>
              <a:rPr lang="en-US" altLang="en-US" sz="2500" b="1" dirty="0">
                <a:solidFill>
                  <a:schemeClr val="tx1"/>
                </a:solidFill>
                <a:latin typeface="Arial" panose="020B0604020202020204" pitchFamily="34" charset="0"/>
                <a:cs typeface="Arial" panose="020B0604020202020204" pitchFamily="34" charset="0"/>
              </a:rPr>
              <a:t> Mechanical Engineering Design</a:t>
            </a:r>
            <a:endParaRPr lang="en-US" altLang="en-US" sz="2500" dirty="0">
              <a:solidFill>
                <a:schemeClr val="tx1"/>
              </a:solidFill>
              <a:latin typeface="Arial" panose="020B0604020202020204" pitchFamily="34" charset="0"/>
              <a:cs typeface="Arial" panose="020B0604020202020204" pitchFamily="34" charset="0"/>
            </a:endParaRPr>
          </a:p>
          <a:p>
            <a:r>
              <a:rPr lang="en-US" altLang="en-US" sz="2500" dirty="0">
                <a:solidFill>
                  <a:schemeClr val="tx1"/>
                </a:solidFill>
                <a:latin typeface="Arial" panose="020B0604020202020204" pitchFamily="34" charset="0"/>
                <a:cs typeface="Arial" panose="020B0604020202020204" pitchFamily="34" charset="0"/>
              </a:rPr>
              <a:t>By Richard </a:t>
            </a:r>
            <a:r>
              <a:rPr lang="en-US" altLang="en-US" sz="2500" dirty="0" err="1">
                <a:solidFill>
                  <a:schemeClr val="tx1"/>
                </a:solidFill>
                <a:latin typeface="Arial" panose="020B0604020202020204" pitchFamily="34" charset="0"/>
                <a:cs typeface="Arial" panose="020B0604020202020204" pitchFamily="34" charset="0"/>
              </a:rPr>
              <a:t>Budynas</a:t>
            </a:r>
            <a:endParaRPr lang="en-US" altLang="en-US" sz="2500" dirty="0">
              <a:solidFill>
                <a:schemeClr val="tx1"/>
              </a:solidFill>
              <a:latin typeface="Arial" panose="020B0604020202020204" pitchFamily="34" charset="0"/>
              <a:cs typeface="Arial" panose="020B0604020202020204" pitchFamily="34" charset="0"/>
            </a:endParaRPr>
          </a:p>
          <a:p>
            <a:r>
              <a:rPr lang="en-US" altLang="en-US" sz="2500" dirty="0">
                <a:solidFill>
                  <a:schemeClr val="tx1"/>
                </a:solidFill>
                <a:latin typeface="Arial" panose="020B0604020202020204" pitchFamily="34" charset="0"/>
                <a:cs typeface="Arial" panose="020B0604020202020204" pitchFamily="34" charset="0"/>
              </a:rPr>
              <a:t>Edition: 11</a:t>
            </a:r>
            <a:r>
              <a:rPr lang="en-US" altLang="en-US" sz="2500" baseline="30000" dirty="0">
                <a:solidFill>
                  <a:schemeClr val="tx1"/>
                </a:solidFill>
                <a:latin typeface="Arial" panose="020B0604020202020204" pitchFamily="34" charset="0"/>
                <a:cs typeface="Arial" panose="020B0604020202020204" pitchFamily="34" charset="0"/>
              </a:rPr>
              <a:t>TH</a:t>
            </a:r>
            <a:r>
              <a:rPr lang="en-US" altLang="en-US" sz="2500" dirty="0">
                <a:solidFill>
                  <a:schemeClr val="tx1"/>
                </a:solidFill>
                <a:latin typeface="Arial" panose="020B0604020202020204" pitchFamily="34" charset="0"/>
                <a:cs typeface="Arial" panose="020B0604020202020204" pitchFamily="34" charset="0"/>
              </a:rPr>
              <a:t> </a:t>
            </a:r>
          </a:p>
          <a:p>
            <a:r>
              <a:rPr lang="en-US" altLang="en-US" sz="2500" dirty="0">
                <a:solidFill>
                  <a:schemeClr val="tx1"/>
                </a:solidFill>
                <a:latin typeface="Arial" panose="020B0604020202020204" pitchFamily="34" charset="0"/>
                <a:cs typeface="Arial" panose="020B0604020202020204" pitchFamily="34" charset="0"/>
              </a:rPr>
              <a:t>Publisher: McGraw Hill</a:t>
            </a:r>
          </a:p>
          <a:p>
            <a:r>
              <a:rPr lang="en-US" altLang="en-US" sz="2500" dirty="0">
                <a:solidFill>
                  <a:schemeClr val="tx1"/>
                </a:solidFill>
                <a:latin typeface="Arial" panose="020B0604020202020204" pitchFamily="34" charset="0"/>
                <a:cs typeface="Arial" panose="020B0604020202020204" pitchFamily="34" charset="0"/>
              </a:rPr>
              <a:t>ISBN: 978-981-315-898-6</a:t>
            </a:r>
            <a:endParaRPr lang="en-US" sz="1600" dirty="0">
              <a:latin typeface="Arial" panose="020B0604020202020204" pitchFamily="34" charset="0"/>
              <a:cs typeface="Arial" panose="020B0604020202020204" pitchFamily="34" charset="0"/>
            </a:endParaRPr>
          </a:p>
        </p:txBody>
      </p:sp>
      <p:sp>
        <p:nvSpPr>
          <p:cNvPr id="5" name="Title 4">
            <a:extLst>
              <a:ext uri="{FF2B5EF4-FFF2-40B4-BE49-F238E27FC236}">
                <a16:creationId xmlns:a16="http://schemas.microsoft.com/office/drawing/2014/main" id="{10E0B2A3-89A9-3C4D-5895-16AD3C66A59F}"/>
              </a:ext>
            </a:extLst>
          </p:cNvPr>
          <p:cNvSpPr>
            <a:spLocks noGrp="1"/>
          </p:cNvSpPr>
          <p:nvPr>
            <p:ph type="ctrTitle"/>
          </p:nvPr>
        </p:nvSpPr>
        <p:spPr/>
        <p:txBody>
          <a:bodyPr/>
          <a:lstStyle/>
          <a:p>
            <a:r>
              <a:rPr lang="en-US" dirty="0"/>
              <a:t>Ch 5: Failures resulting from static loading</a:t>
            </a:r>
          </a:p>
        </p:txBody>
      </p:sp>
    </p:spTree>
    <p:extLst>
      <p:ext uri="{BB962C8B-B14F-4D97-AF65-F5344CB8AC3E}">
        <p14:creationId xmlns:p14="http://schemas.microsoft.com/office/powerpoint/2010/main" val="3768526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lstStyle/>
          <a:p>
            <a:r>
              <a:rPr lang="en-US" sz="3600" b="1" dirty="0">
                <a:ea typeface="+mn-ea"/>
                <a:cs typeface="+mn-cs"/>
              </a:rPr>
              <a:t>Concept of failure</a:t>
            </a:r>
          </a:p>
        </p:txBody>
      </p:sp>
      <p:sp>
        <p:nvSpPr>
          <p:cNvPr id="3" name="Content Placeholder 2"/>
          <p:cNvSpPr>
            <a:spLocks noGrp="1"/>
          </p:cNvSpPr>
          <p:nvPr>
            <p:ph idx="1"/>
          </p:nvPr>
        </p:nvSpPr>
        <p:spPr/>
        <p:txBody>
          <a:bodyPr>
            <a:normAutofit/>
          </a:bodyPr>
          <a:lstStyle/>
          <a:p>
            <a:r>
              <a:rPr lang="en-US" altLang="en-US" sz="2600" dirty="0"/>
              <a:t>What is failure?</a:t>
            </a:r>
          </a:p>
          <a:p>
            <a:pPr marL="0" indent="0">
              <a:buNone/>
            </a:pPr>
            <a:r>
              <a:rPr lang="en-US" altLang="en-US" sz="2600" dirty="0"/>
              <a:t>When a component or a system of components cannot do its’ intended job.</a:t>
            </a:r>
          </a:p>
          <a:p>
            <a:pPr marL="0" indent="0">
              <a:buNone/>
            </a:pPr>
            <a:r>
              <a:rPr lang="en-US" altLang="en-US" sz="2600" dirty="0"/>
              <a:t>	-Part separating into pieces</a:t>
            </a:r>
          </a:p>
          <a:p>
            <a:pPr marL="0" indent="0">
              <a:buNone/>
            </a:pPr>
            <a:r>
              <a:rPr lang="en-US" altLang="en-US" sz="2600" dirty="0"/>
              <a:t>	-permanent distortion</a:t>
            </a:r>
          </a:p>
          <a:p>
            <a:pPr marL="0" indent="0">
              <a:buNone/>
            </a:pPr>
            <a:r>
              <a:rPr lang="en-US" altLang="en-US" sz="2600" dirty="0"/>
              <a:t>	-downgraded reliability</a:t>
            </a:r>
          </a:p>
          <a:p>
            <a:pPr marL="0" indent="0">
              <a:buNone/>
            </a:pPr>
            <a:r>
              <a:rPr lang="en-US" altLang="en-US" sz="2600" dirty="0"/>
              <a:t>	-compromised function</a:t>
            </a:r>
          </a:p>
          <a:p>
            <a:pPr marL="0" indent="0">
              <a:buNone/>
            </a:pPr>
            <a:endParaRPr lang="en-US" sz="2600" dirty="0"/>
          </a:p>
          <a:p>
            <a:r>
              <a:rPr lang="en-US" sz="2600" dirty="0"/>
              <a:t>Why do systems or components fail? What are some of the reasons?</a:t>
            </a:r>
          </a:p>
          <a:p>
            <a:pPr marL="0" indent="0">
              <a:buNone/>
            </a:pPr>
            <a:r>
              <a:rPr lang="en-US" sz="2600" dirty="0"/>
              <a:t>Diminished strength!</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57150" indent="0">
              <a:buNone/>
            </a:pPr>
            <a:endParaRPr lang="en-US"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D44BFE9-8835-270F-F294-FB195E6FE230}"/>
              </a:ext>
            </a:extLst>
          </p:cNvPr>
          <p:cNvSpPr>
            <a:spLocks noGrp="1"/>
          </p:cNvSpPr>
          <p:nvPr>
            <p:ph type="sldNum" sz="quarter" idx="12"/>
          </p:nvPr>
        </p:nvSpPr>
        <p:spPr/>
        <p:txBody>
          <a:bodyPr/>
          <a:lstStyle/>
          <a:p>
            <a:fld id="{6BBD800B-B06C-425E-A9D9-2DFB2FADB111}" type="slidenum">
              <a:rPr lang="en-US" smtClean="0"/>
              <a:t>3</a:t>
            </a:fld>
            <a:endParaRPr lang="en-US" dirty="0"/>
          </a:p>
        </p:txBody>
      </p:sp>
      <p:sp>
        <p:nvSpPr>
          <p:cNvPr id="5" name="AutoShape 2" descr="The figure illustrates the convenient frames for specifying the positions of objects in a room and an airplane.">
            <a:extLst>
              <a:ext uri="{FF2B5EF4-FFF2-40B4-BE49-F238E27FC236}">
                <a16:creationId xmlns:a16="http://schemas.microsoft.com/office/drawing/2014/main" id="{3B372A58-B9E5-4F35-8F45-B0CF35F12AE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56432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3E0E8-9FE3-E26E-3825-E28B91930C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002719-6708-D2B2-A46B-1101663E017F}"/>
              </a:ext>
            </a:extLst>
          </p:cNvPr>
          <p:cNvSpPr>
            <a:spLocks noGrp="1"/>
          </p:cNvSpPr>
          <p:nvPr>
            <p:ph type="title"/>
          </p:nvPr>
        </p:nvSpPr>
        <p:spPr>
          <a:xfrm>
            <a:off x="1981200" y="274638"/>
            <a:ext cx="8229600" cy="792162"/>
          </a:xfrm>
        </p:spPr>
        <p:txBody>
          <a:bodyPr/>
          <a:lstStyle/>
          <a:p>
            <a:r>
              <a:rPr lang="en-US" sz="3600" b="1" dirty="0">
                <a:ea typeface="+mn-ea"/>
                <a:cs typeface="+mn-cs"/>
              </a:rPr>
              <a:t>Why does failure happen?</a:t>
            </a:r>
          </a:p>
        </p:txBody>
      </p:sp>
      <p:sp>
        <p:nvSpPr>
          <p:cNvPr id="3" name="Content Placeholder 2">
            <a:extLst>
              <a:ext uri="{FF2B5EF4-FFF2-40B4-BE49-F238E27FC236}">
                <a16:creationId xmlns:a16="http://schemas.microsoft.com/office/drawing/2014/main" id="{D68FCDA8-CF3D-88A8-557E-0AC6574A0B99}"/>
              </a:ext>
            </a:extLst>
          </p:cNvPr>
          <p:cNvSpPr>
            <a:spLocks noGrp="1"/>
          </p:cNvSpPr>
          <p:nvPr>
            <p:ph idx="1"/>
          </p:nvPr>
        </p:nvSpPr>
        <p:spPr/>
        <p:txBody>
          <a:bodyPr>
            <a:normAutofit fontScale="92500" lnSpcReduction="10000"/>
          </a:bodyPr>
          <a:lstStyle/>
          <a:p>
            <a:r>
              <a:rPr lang="en-US" altLang="en-US" dirty="0"/>
              <a:t>All the manufacturing parts go through extensive testing, so why?</a:t>
            </a:r>
          </a:p>
          <a:p>
            <a:r>
              <a:rPr lang="en-US" dirty="0"/>
              <a:t>Strengths of all mass-produced parts will be different due to the variation of dimension, machining, forming, and composition</a:t>
            </a:r>
          </a:p>
          <a:p>
            <a:r>
              <a:rPr lang="en-US" dirty="0"/>
              <a:t>Strength is statistical in nature with a mean, standard deviations, and distributional identification</a:t>
            </a:r>
          </a:p>
          <a:p>
            <a:r>
              <a:rPr lang="en-US" dirty="0"/>
              <a:t>Cannot use published values of yield or ultimate strength.</a:t>
            </a:r>
          </a:p>
          <a:p>
            <a:endParaRPr lang="en-US" dirty="0"/>
          </a:p>
          <a:p>
            <a:r>
              <a:rPr lang="en-US" dirty="0"/>
              <a:t>Testing is very important to duplicate the actual design situation!</a:t>
            </a:r>
          </a:p>
          <a:p>
            <a:r>
              <a:rPr lang="en-US" dirty="0"/>
              <a:t>Stress concentration during operation can throw everything off!</a:t>
            </a:r>
          </a:p>
          <a:p>
            <a:endParaRPr lang="en-US" sz="4000" dirty="0">
              <a:latin typeface="Arial" panose="020B0604020202020204" pitchFamily="34" charset="0"/>
              <a:cs typeface="Arial" panose="020B0604020202020204" pitchFamily="34" charset="0"/>
            </a:endParaRPr>
          </a:p>
          <a:p>
            <a:endParaRPr lang="en-US" sz="4000" dirty="0">
              <a:latin typeface="Arial" panose="020B0604020202020204" pitchFamily="34" charset="0"/>
              <a:cs typeface="Arial" panose="020B0604020202020204" pitchFamily="34" charset="0"/>
            </a:endParaRPr>
          </a:p>
          <a:p>
            <a:pPr marL="57150" indent="0">
              <a:buNone/>
            </a:pPr>
            <a:endParaRPr lang="en-US" sz="40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1F2DB0E-60E0-DE6C-9AAA-398C86EB074D}"/>
              </a:ext>
            </a:extLst>
          </p:cNvPr>
          <p:cNvSpPr>
            <a:spLocks noGrp="1"/>
          </p:cNvSpPr>
          <p:nvPr>
            <p:ph type="sldNum" sz="quarter" idx="12"/>
          </p:nvPr>
        </p:nvSpPr>
        <p:spPr/>
        <p:txBody>
          <a:bodyPr/>
          <a:lstStyle/>
          <a:p>
            <a:fld id="{6BBD800B-B06C-425E-A9D9-2DFB2FADB111}" type="slidenum">
              <a:rPr lang="en-US" smtClean="0"/>
              <a:t>4</a:t>
            </a:fld>
            <a:endParaRPr lang="en-US" dirty="0"/>
          </a:p>
        </p:txBody>
      </p:sp>
      <p:sp>
        <p:nvSpPr>
          <p:cNvPr id="5" name="AutoShape 2" descr="The figure illustrates the convenient frames for specifying the positions of objects in a room and an airplane.">
            <a:extLst>
              <a:ext uri="{FF2B5EF4-FFF2-40B4-BE49-F238E27FC236}">
                <a16:creationId xmlns:a16="http://schemas.microsoft.com/office/drawing/2014/main" id="{619D779C-C8FC-7DEB-BB71-3FAD3E35AD8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460692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7B784-458D-94BC-3F80-F6DFA4BED3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121C42-804A-9FE9-C6EC-EC2E935CC674}"/>
              </a:ext>
            </a:extLst>
          </p:cNvPr>
          <p:cNvSpPr>
            <a:spLocks noGrp="1"/>
          </p:cNvSpPr>
          <p:nvPr>
            <p:ph type="title"/>
          </p:nvPr>
        </p:nvSpPr>
        <p:spPr>
          <a:xfrm>
            <a:off x="1981200" y="274638"/>
            <a:ext cx="8229600" cy="792162"/>
          </a:xfrm>
        </p:spPr>
        <p:txBody>
          <a:bodyPr/>
          <a:lstStyle/>
          <a:p>
            <a:r>
              <a:rPr lang="en-US" sz="3600" b="1" dirty="0">
                <a:ea typeface="+mn-ea"/>
                <a:cs typeface="+mn-cs"/>
              </a:rPr>
              <a:t>Four design categories</a:t>
            </a:r>
          </a:p>
        </p:txBody>
      </p:sp>
      <p:sp>
        <p:nvSpPr>
          <p:cNvPr id="3" name="Content Placeholder 2">
            <a:extLst>
              <a:ext uri="{FF2B5EF4-FFF2-40B4-BE49-F238E27FC236}">
                <a16:creationId xmlns:a16="http://schemas.microsoft.com/office/drawing/2014/main" id="{86BD74F9-1AB7-C276-8628-C00BCC075A29}"/>
              </a:ext>
            </a:extLst>
          </p:cNvPr>
          <p:cNvSpPr>
            <a:spLocks noGrp="1"/>
          </p:cNvSpPr>
          <p:nvPr>
            <p:ph idx="1"/>
          </p:nvPr>
        </p:nvSpPr>
        <p:spPr/>
        <p:txBody>
          <a:bodyPr>
            <a:normAutofit fontScale="92500" lnSpcReduction="20000"/>
          </a:bodyPr>
          <a:lstStyle/>
          <a:p>
            <a:pPr marL="514350" indent="-514350">
              <a:buFont typeface="+mj-lt"/>
              <a:buAutoNum type="arabicPeriod"/>
            </a:pPr>
            <a:r>
              <a:rPr lang="en-US" altLang="en-US" dirty="0"/>
              <a:t>Failure of the part would endanger human life or the part is made in extremely large quantities, consequently, an elaborate testing program is justified during the design</a:t>
            </a:r>
          </a:p>
          <a:p>
            <a:pPr marL="514350" indent="-514350">
              <a:buFont typeface="+mj-lt"/>
              <a:buAutoNum type="arabicPeriod"/>
            </a:pPr>
            <a:r>
              <a:rPr lang="en-US" dirty="0"/>
              <a:t>The part is made in large enough quantities that a moderate series of tests is feasible</a:t>
            </a:r>
          </a:p>
          <a:p>
            <a:pPr marL="514350" indent="-514350">
              <a:buFont typeface="+mj-lt"/>
              <a:buAutoNum type="arabicPeriod"/>
            </a:pPr>
            <a:r>
              <a:rPr lang="en-US" dirty="0"/>
              <a:t>The part is made in such small quantities that testing is not justified at all, or the design must be completed so rapidly that there is not enough time for testing</a:t>
            </a:r>
          </a:p>
          <a:p>
            <a:pPr marL="514350" indent="-514350">
              <a:buFont typeface="+mj-lt"/>
              <a:buAutoNum type="arabicPeriod"/>
            </a:pPr>
            <a:r>
              <a:rPr lang="en-US" dirty="0"/>
              <a:t>The part has already been designed, manufactured, and tested; and found to be unsatisfactory. Analysis is required to understand why and how to improve it.</a:t>
            </a:r>
          </a:p>
          <a:p>
            <a:pPr marL="742950" indent="-742950">
              <a:buFont typeface="+mj-lt"/>
              <a:buAutoNum type="arabicPeriod"/>
            </a:pPr>
            <a:endParaRPr lang="en-US" sz="4000" dirty="0">
              <a:latin typeface="Arial" panose="020B0604020202020204" pitchFamily="34" charset="0"/>
              <a:cs typeface="Arial" panose="020B0604020202020204" pitchFamily="34" charset="0"/>
            </a:endParaRPr>
          </a:p>
          <a:p>
            <a:pPr marL="742950" indent="-742950">
              <a:buFont typeface="+mj-lt"/>
              <a:buAutoNum type="arabicPeriod"/>
            </a:pPr>
            <a:endParaRPr lang="en-US" sz="4000" dirty="0">
              <a:latin typeface="Arial" panose="020B0604020202020204" pitchFamily="34" charset="0"/>
              <a:cs typeface="Arial" panose="020B0604020202020204" pitchFamily="34" charset="0"/>
            </a:endParaRPr>
          </a:p>
          <a:p>
            <a:pPr marL="800100" indent="-742950">
              <a:buFont typeface="+mj-lt"/>
              <a:buAutoNum type="arabicPeriod"/>
            </a:pPr>
            <a:endParaRPr lang="en-US" sz="40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4A093B-0024-420A-B8D7-014FAB0AF953}"/>
              </a:ext>
            </a:extLst>
          </p:cNvPr>
          <p:cNvSpPr>
            <a:spLocks noGrp="1"/>
          </p:cNvSpPr>
          <p:nvPr>
            <p:ph type="sldNum" sz="quarter" idx="12"/>
          </p:nvPr>
        </p:nvSpPr>
        <p:spPr/>
        <p:txBody>
          <a:bodyPr/>
          <a:lstStyle/>
          <a:p>
            <a:fld id="{6BBD800B-B06C-425E-A9D9-2DFB2FADB111}" type="slidenum">
              <a:rPr lang="en-US" smtClean="0"/>
              <a:t>5</a:t>
            </a:fld>
            <a:endParaRPr lang="en-US" dirty="0"/>
          </a:p>
        </p:txBody>
      </p:sp>
      <p:sp>
        <p:nvSpPr>
          <p:cNvPr id="5" name="AutoShape 2" descr="The figure illustrates the convenient frames for specifying the positions of objects in a room and an airplane.">
            <a:extLst>
              <a:ext uri="{FF2B5EF4-FFF2-40B4-BE49-F238E27FC236}">
                <a16:creationId xmlns:a16="http://schemas.microsoft.com/office/drawing/2014/main" id="{A18E01E4-9DB3-068E-2477-F8ED2424647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372568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DDB4-B60D-432B-9B83-59D895FF97BA}"/>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DC7BD725-2AA1-4B93-9273-729A053ABE34}"/>
              </a:ext>
            </a:extLst>
          </p:cNvPr>
          <p:cNvSpPr>
            <a:spLocks noGrp="1"/>
          </p:cNvSpPr>
          <p:nvPr>
            <p:ph idx="1"/>
          </p:nvPr>
        </p:nvSpPr>
        <p:spPr/>
        <p:txBody>
          <a:bodyPr/>
          <a:lstStyle/>
          <a:p>
            <a:r>
              <a:rPr lang="en-US" dirty="0"/>
              <a:t>1) if you are hired at a startup with limited resources and less testing facilities, but your product needs very high accuracy, what measures would you take?</a:t>
            </a:r>
          </a:p>
          <a:p>
            <a:r>
              <a:rPr lang="en-US"/>
              <a:t>2) you </a:t>
            </a:r>
            <a:r>
              <a:rPr lang="en-US" dirty="0"/>
              <a:t>are design engineer working in each of the four design categories, what measures would you take?</a:t>
            </a:r>
          </a:p>
        </p:txBody>
      </p:sp>
      <p:sp>
        <p:nvSpPr>
          <p:cNvPr id="4" name="Slide Number Placeholder 3">
            <a:extLst>
              <a:ext uri="{FF2B5EF4-FFF2-40B4-BE49-F238E27FC236}">
                <a16:creationId xmlns:a16="http://schemas.microsoft.com/office/drawing/2014/main" id="{5B2D6818-339E-4D77-BF1A-24BD51DD50AE}"/>
              </a:ext>
            </a:extLst>
          </p:cNvPr>
          <p:cNvSpPr>
            <a:spLocks noGrp="1"/>
          </p:cNvSpPr>
          <p:nvPr>
            <p:ph type="sldNum" sz="quarter" idx="12"/>
          </p:nvPr>
        </p:nvSpPr>
        <p:spPr/>
        <p:txBody>
          <a:bodyPr/>
          <a:lstStyle/>
          <a:p>
            <a:fld id="{6BBD800B-B06C-425E-A9D9-2DFB2FADB111}" type="slidenum">
              <a:rPr lang="en-US" smtClean="0"/>
              <a:t>6</a:t>
            </a:fld>
            <a:endParaRPr lang="en-US" dirty="0"/>
          </a:p>
        </p:txBody>
      </p:sp>
    </p:spTree>
    <p:extLst>
      <p:ext uri="{BB962C8B-B14F-4D97-AF65-F5344CB8AC3E}">
        <p14:creationId xmlns:p14="http://schemas.microsoft.com/office/powerpoint/2010/main" val="2420869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28810-4245-BBFA-DD26-4825595B28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51560A-65E3-8BDB-3FC0-CC3A629C5ACA}"/>
              </a:ext>
            </a:extLst>
          </p:cNvPr>
          <p:cNvSpPr>
            <a:spLocks noGrp="1"/>
          </p:cNvSpPr>
          <p:nvPr>
            <p:ph type="title"/>
          </p:nvPr>
        </p:nvSpPr>
        <p:spPr>
          <a:xfrm>
            <a:off x="1981200" y="274638"/>
            <a:ext cx="8229600" cy="792162"/>
          </a:xfrm>
        </p:spPr>
        <p:txBody>
          <a:bodyPr/>
          <a:lstStyle/>
          <a:p>
            <a:r>
              <a:rPr lang="en-US" sz="3600" b="1" dirty="0">
                <a:ea typeface="+mn-ea"/>
                <a:cs typeface="+mn-cs"/>
              </a:rPr>
              <a:t>Static load</a:t>
            </a:r>
          </a:p>
        </p:txBody>
      </p:sp>
      <p:sp>
        <p:nvSpPr>
          <p:cNvPr id="3" name="Content Placeholder 2">
            <a:extLst>
              <a:ext uri="{FF2B5EF4-FFF2-40B4-BE49-F238E27FC236}">
                <a16:creationId xmlns:a16="http://schemas.microsoft.com/office/drawing/2014/main" id="{E1796563-FF6B-7B84-AD96-A18EE271DC72}"/>
              </a:ext>
            </a:extLst>
          </p:cNvPr>
          <p:cNvSpPr>
            <a:spLocks noGrp="1"/>
          </p:cNvSpPr>
          <p:nvPr>
            <p:ph idx="1"/>
          </p:nvPr>
        </p:nvSpPr>
        <p:spPr>
          <a:xfrm>
            <a:off x="609600" y="990601"/>
            <a:ext cx="10972800" cy="5135564"/>
          </a:xfrm>
        </p:spPr>
        <p:txBody>
          <a:bodyPr>
            <a:normAutofit lnSpcReduction="10000"/>
          </a:bodyPr>
          <a:lstStyle/>
          <a:p>
            <a:r>
              <a:rPr lang="en-US" altLang="en-US" sz="2400" dirty="0"/>
              <a:t>A static load is a stationary force or couple applied to a member.</a:t>
            </a:r>
          </a:p>
          <a:p>
            <a:r>
              <a:rPr lang="en-US" sz="2400" dirty="0"/>
              <a:t>To be stationary, the force or couple </a:t>
            </a:r>
            <a:r>
              <a:rPr lang="en-US" sz="2400" dirty="0">
                <a:solidFill>
                  <a:srgbClr val="C00000"/>
                </a:solidFill>
              </a:rPr>
              <a:t>must not change </a:t>
            </a:r>
            <a:r>
              <a:rPr lang="en-US" sz="2400" dirty="0"/>
              <a:t>in:</a:t>
            </a:r>
          </a:p>
          <a:p>
            <a:pPr lvl="1">
              <a:buFont typeface="Arial" panose="020B0604020202020204" pitchFamily="34" charset="0"/>
              <a:buChar char="•"/>
            </a:pPr>
            <a:r>
              <a:rPr lang="en-US" sz="2400" dirty="0"/>
              <a:t>Magnitude</a:t>
            </a:r>
          </a:p>
          <a:p>
            <a:pPr lvl="1">
              <a:buFont typeface="Arial" panose="020B0604020202020204" pitchFamily="34" charset="0"/>
              <a:buChar char="•"/>
            </a:pPr>
            <a:r>
              <a:rPr lang="en-US" sz="2400" dirty="0"/>
              <a:t>Direction</a:t>
            </a:r>
          </a:p>
          <a:p>
            <a:pPr lvl="1">
              <a:buFont typeface="Arial" panose="020B0604020202020204" pitchFamily="34" charset="0"/>
              <a:buChar char="•"/>
            </a:pPr>
            <a:r>
              <a:rPr lang="en-US" sz="2400" dirty="0"/>
              <a:t>Point/s of application</a:t>
            </a:r>
          </a:p>
          <a:p>
            <a:pPr lvl="1"/>
            <a:endParaRPr lang="en-US" sz="2400" dirty="0"/>
          </a:p>
          <a:p>
            <a:pPr marL="338138" lvl="1" indent="-338138">
              <a:buFont typeface="Arial" panose="020B0604020202020204" pitchFamily="34" charset="0"/>
              <a:buChar char="•"/>
            </a:pPr>
            <a:r>
              <a:rPr lang="en-US" sz="2400" dirty="0"/>
              <a:t>A static load can produce:</a:t>
            </a:r>
          </a:p>
          <a:p>
            <a:pPr marL="738188" lvl="2" indent="-338138"/>
            <a:r>
              <a:rPr lang="en-US" dirty="0"/>
              <a:t>Axial tension or compression</a:t>
            </a:r>
          </a:p>
          <a:p>
            <a:pPr marL="738188" lvl="2" indent="-338138"/>
            <a:r>
              <a:rPr lang="en-US" dirty="0"/>
              <a:t>Shear load</a:t>
            </a:r>
          </a:p>
          <a:p>
            <a:pPr marL="738188" lvl="2" indent="-338138"/>
            <a:r>
              <a:rPr lang="en-US" dirty="0"/>
              <a:t>Bending load</a:t>
            </a:r>
          </a:p>
          <a:p>
            <a:pPr marL="738188" lvl="2" indent="-338138"/>
            <a:r>
              <a:rPr lang="en-US" dirty="0"/>
              <a:t>Torsional load</a:t>
            </a:r>
          </a:p>
          <a:p>
            <a:pPr marL="738188" lvl="2" indent="-338138"/>
            <a:r>
              <a:rPr lang="en-US" dirty="0"/>
              <a:t>Combination of two or more loads</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57150" indent="0">
              <a:buNone/>
            </a:pPr>
            <a:endParaRPr lang="en-US"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54FA8C-F2B4-4164-7309-82EF1DA56EA2}"/>
              </a:ext>
            </a:extLst>
          </p:cNvPr>
          <p:cNvSpPr>
            <a:spLocks noGrp="1"/>
          </p:cNvSpPr>
          <p:nvPr>
            <p:ph type="sldNum" sz="quarter" idx="12"/>
          </p:nvPr>
        </p:nvSpPr>
        <p:spPr/>
        <p:txBody>
          <a:bodyPr/>
          <a:lstStyle/>
          <a:p>
            <a:fld id="{6BBD800B-B06C-425E-A9D9-2DFB2FADB111}" type="slidenum">
              <a:rPr lang="en-US" smtClean="0"/>
              <a:t>7</a:t>
            </a:fld>
            <a:endParaRPr lang="en-US" dirty="0"/>
          </a:p>
        </p:txBody>
      </p:sp>
      <p:sp>
        <p:nvSpPr>
          <p:cNvPr id="5" name="AutoShape 2" descr="The figure illustrates the convenient frames for specifying the positions of objects in a room and an airplane.">
            <a:extLst>
              <a:ext uri="{FF2B5EF4-FFF2-40B4-BE49-F238E27FC236}">
                <a16:creationId xmlns:a16="http://schemas.microsoft.com/office/drawing/2014/main" id="{BE5224EB-20FD-1DD4-4B71-CC22475B380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496965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8C17C-8FB2-8F9D-9611-3DB5CE275A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3955C9-F486-A63B-F02C-E2F5BC0E14D8}"/>
              </a:ext>
            </a:extLst>
          </p:cNvPr>
          <p:cNvSpPr>
            <a:spLocks noGrp="1"/>
          </p:cNvSpPr>
          <p:nvPr>
            <p:ph type="title"/>
          </p:nvPr>
        </p:nvSpPr>
        <p:spPr>
          <a:xfrm>
            <a:off x="1981200" y="274638"/>
            <a:ext cx="8229600" cy="792162"/>
          </a:xfrm>
        </p:spPr>
        <p:txBody>
          <a:bodyPr/>
          <a:lstStyle/>
          <a:p>
            <a:r>
              <a:rPr lang="en-US" sz="3600" b="1" dirty="0">
                <a:ea typeface="+mn-ea"/>
                <a:cs typeface="+mn-cs"/>
              </a:rPr>
              <a:t>Background of failure theories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1BDAA2-42E3-D6B5-63F2-006DE3788EEE}"/>
                  </a:ext>
                </a:extLst>
              </p:cNvPr>
              <p:cNvSpPr>
                <a:spLocks noGrp="1"/>
              </p:cNvSpPr>
              <p:nvPr>
                <p:ph idx="1"/>
              </p:nvPr>
            </p:nvSpPr>
            <p:spPr>
              <a:xfrm>
                <a:off x="609600" y="1143001"/>
                <a:ext cx="10972800" cy="4983164"/>
              </a:xfrm>
            </p:spPr>
            <p:txBody>
              <a:bodyPr>
                <a:normAutofit fontScale="92500" lnSpcReduction="10000"/>
              </a:bodyPr>
              <a:lstStyle/>
              <a:p>
                <a:r>
                  <a:rPr lang="en-US" dirty="0">
                    <a:solidFill>
                      <a:srgbClr val="2F5597"/>
                    </a:solidFill>
                  </a:rPr>
                  <a:t>If failure strain, </a:t>
                </a:r>
                <a14:m>
                  <m:oMath xmlns:m="http://schemas.openxmlformats.org/officeDocument/2006/math">
                    <m:sSub>
                      <m:sSubPr>
                        <m:ctrlPr>
                          <a:rPr lang="en-US" i="1">
                            <a:solidFill>
                              <a:srgbClr val="2F5597"/>
                            </a:solidFill>
                            <a:latin typeface="Cambria Math" panose="02040503050406030204" pitchFamily="18" charset="0"/>
                          </a:rPr>
                        </m:ctrlPr>
                      </m:sSubPr>
                      <m:e>
                        <m:r>
                          <a:rPr lang="en-US" i="1">
                            <a:solidFill>
                              <a:srgbClr val="2F5597"/>
                            </a:solidFill>
                            <a:latin typeface="Cambria Math" panose="02040503050406030204" pitchFamily="18" charset="0"/>
                            <a:ea typeface="Cambria Math" panose="02040503050406030204" pitchFamily="18" charset="0"/>
                          </a:rPr>
                          <m:t>𝜀</m:t>
                        </m:r>
                      </m:e>
                      <m:sub>
                        <m:r>
                          <a:rPr lang="en-US" i="1">
                            <a:solidFill>
                              <a:srgbClr val="2F5597"/>
                            </a:solidFill>
                            <a:latin typeface="Cambria Math" panose="02040503050406030204" pitchFamily="18" charset="0"/>
                          </a:rPr>
                          <m:t>𝑓</m:t>
                        </m:r>
                      </m:sub>
                    </m:sSub>
                    <m:r>
                      <a:rPr lang="en-US" i="1">
                        <a:solidFill>
                          <a:srgbClr val="2F5597"/>
                        </a:solidFill>
                        <a:latin typeface="Cambria Math" panose="02040503050406030204" pitchFamily="18" charset="0"/>
                        <a:ea typeface="Cambria Math" panose="02040503050406030204" pitchFamily="18" charset="0"/>
                      </a:rPr>
                      <m:t>≥0.05</m:t>
                    </m:r>
                  </m:oMath>
                </a14:m>
                <a:r>
                  <a:rPr lang="en-US" dirty="0">
                    <a:solidFill>
                      <a:srgbClr val="2F5597"/>
                    </a:solidFill>
                  </a:rPr>
                  <a:t> there is identifiable yield strength, meaning the material is ductile. Thus, the maximum stress is the yield stress (generally, tensile and compressive values are similar)</a:t>
                </a:r>
              </a:p>
              <a:p>
                <a:r>
                  <a:rPr lang="en-US" dirty="0">
                    <a:solidFill>
                      <a:srgbClr val="2F5597"/>
                    </a:solidFill>
                  </a:rPr>
                  <a:t>If failure strain, </a:t>
                </a:r>
                <a14:m>
                  <m:oMath xmlns:m="http://schemas.openxmlformats.org/officeDocument/2006/math">
                    <m:sSub>
                      <m:sSubPr>
                        <m:ctrlPr>
                          <a:rPr lang="en-US" i="1">
                            <a:solidFill>
                              <a:srgbClr val="2F5597"/>
                            </a:solidFill>
                            <a:latin typeface="Cambria Math" panose="02040503050406030204" pitchFamily="18" charset="0"/>
                          </a:rPr>
                        </m:ctrlPr>
                      </m:sSubPr>
                      <m:e>
                        <m:r>
                          <a:rPr lang="en-US" i="1">
                            <a:solidFill>
                              <a:srgbClr val="2F5597"/>
                            </a:solidFill>
                            <a:latin typeface="Cambria Math" panose="02040503050406030204" pitchFamily="18" charset="0"/>
                            <a:ea typeface="Cambria Math" panose="02040503050406030204" pitchFamily="18" charset="0"/>
                          </a:rPr>
                          <m:t>𝜀</m:t>
                        </m:r>
                      </m:e>
                      <m:sub>
                        <m:r>
                          <a:rPr lang="en-US" i="1">
                            <a:solidFill>
                              <a:srgbClr val="2F5597"/>
                            </a:solidFill>
                            <a:latin typeface="Cambria Math" panose="02040503050406030204" pitchFamily="18" charset="0"/>
                          </a:rPr>
                          <m:t>𝑓</m:t>
                        </m:r>
                      </m:sub>
                    </m:sSub>
                    <m:r>
                      <a:rPr lang="en-US" i="1">
                        <a:solidFill>
                          <a:srgbClr val="2F5597"/>
                        </a:solidFill>
                        <a:latin typeface="Cambria Math" panose="02040503050406030204" pitchFamily="18" charset="0"/>
                        <a:ea typeface="Cambria Math" panose="02040503050406030204" pitchFamily="18" charset="0"/>
                      </a:rPr>
                      <m:t>&lt;0.05</m:t>
                    </m:r>
                  </m:oMath>
                </a14:m>
                <a:r>
                  <a:rPr lang="en-US" dirty="0">
                    <a:solidFill>
                      <a:srgbClr val="2F5597"/>
                    </a:solidFill>
                  </a:rPr>
                  <a:t> there is no identifiable yield strength, meaning the material is brittle. Thus, the maximum stress is ultimate stress (generally tensile and compressive values are different)</a:t>
                </a:r>
              </a:p>
              <a:p>
                <a:r>
                  <a:rPr lang="en-US" altLang="en-US" dirty="0">
                    <a:solidFill>
                      <a:srgbClr val="2F5597"/>
                    </a:solidFill>
                  </a:rPr>
                  <a:t>No universal theory</a:t>
                </a:r>
              </a:p>
              <a:p>
                <a:r>
                  <a:rPr lang="en-US" dirty="0">
                    <a:solidFill>
                      <a:srgbClr val="2F5597"/>
                    </a:solidFill>
                  </a:rPr>
                  <a:t>Over the years several hypotheses have been formulated and tested leading to today’s accepted practices.</a:t>
                </a:r>
              </a:p>
              <a:p>
                <a:r>
                  <a:rPr lang="en-US" dirty="0">
                    <a:solidFill>
                      <a:srgbClr val="2F5597"/>
                    </a:solidFill>
                  </a:rPr>
                  <a:t>These accepted practices are known as ‘theories’</a:t>
                </a:r>
              </a:p>
              <a:p>
                <a:endParaRPr lang="en-US" dirty="0"/>
              </a:p>
              <a:p>
                <a:endParaRPr lang="en-US" sz="4000" dirty="0">
                  <a:latin typeface="Arial" panose="020B0604020202020204" pitchFamily="34" charset="0"/>
                  <a:cs typeface="Arial" panose="020B0604020202020204" pitchFamily="34" charset="0"/>
                </a:endParaRPr>
              </a:p>
              <a:p>
                <a:endParaRPr lang="en-US" sz="4000" dirty="0">
                  <a:latin typeface="Arial" panose="020B0604020202020204" pitchFamily="34" charset="0"/>
                  <a:cs typeface="Arial" panose="020B0604020202020204" pitchFamily="34" charset="0"/>
                </a:endParaRPr>
              </a:p>
              <a:p>
                <a:pPr marL="57150" indent="0">
                  <a:buNone/>
                </a:pPr>
                <a:endParaRPr lang="en-US" sz="40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A51BDAA2-42E3-D6B5-63F2-006DE3788EEE}"/>
                  </a:ext>
                </a:extLst>
              </p:cNvPr>
              <p:cNvSpPr>
                <a:spLocks noGrp="1" noRot="1" noChangeAspect="1" noMove="1" noResize="1" noEditPoints="1" noAdjustHandles="1" noChangeArrowheads="1" noChangeShapeType="1" noTextEdit="1"/>
              </p:cNvSpPr>
              <p:nvPr>
                <p:ph idx="1"/>
              </p:nvPr>
            </p:nvSpPr>
            <p:spPr>
              <a:xfrm>
                <a:off x="609600" y="1143001"/>
                <a:ext cx="10972800" cy="4983164"/>
              </a:xfrm>
              <a:blipFill>
                <a:blip r:embed="rId2"/>
                <a:stretch>
                  <a:fillRect l="-1111" t="-2203" r="-38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AF92FAF-1B7C-85C3-35C6-7C10C76F37EF}"/>
              </a:ext>
            </a:extLst>
          </p:cNvPr>
          <p:cNvSpPr>
            <a:spLocks noGrp="1"/>
          </p:cNvSpPr>
          <p:nvPr>
            <p:ph type="sldNum" sz="quarter" idx="12"/>
          </p:nvPr>
        </p:nvSpPr>
        <p:spPr/>
        <p:txBody>
          <a:bodyPr/>
          <a:lstStyle/>
          <a:p>
            <a:fld id="{6BBD800B-B06C-425E-A9D9-2DFB2FADB111}" type="slidenum">
              <a:rPr lang="en-US" smtClean="0"/>
              <a:t>8</a:t>
            </a:fld>
            <a:endParaRPr lang="en-US" dirty="0"/>
          </a:p>
        </p:txBody>
      </p:sp>
      <p:sp>
        <p:nvSpPr>
          <p:cNvPr id="5" name="AutoShape 2" descr="The figure illustrates the convenient frames for specifying the positions of objects in a room and an airplane.">
            <a:extLst>
              <a:ext uri="{FF2B5EF4-FFF2-40B4-BE49-F238E27FC236}">
                <a16:creationId xmlns:a16="http://schemas.microsoft.com/office/drawing/2014/main" id="{F9DB3AB4-DA64-C444-4C5E-A0260873543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98333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2A618-F13C-878A-C038-F5129AFA2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1A55DC-63A5-D78E-DDB6-C5114005824F}"/>
              </a:ext>
            </a:extLst>
          </p:cNvPr>
          <p:cNvSpPr>
            <a:spLocks noGrp="1"/>
          </p:cNvSpPr>
          <p:nvPr>
            <p:ph type="title"/>
          </p:nvPr>
        </p:nvSpPr>
        <p:spPr>
          <a:xfrm>
            <a:off x="1981200" y="274638"/>
            <a:ext cx="8229600" cy="792162"/>
          </a:xfrm>
        </p:spPr>
        <p:txBody>
          <a:bodyPr/>
          <a:lstStyle/>
          <a:p>
            <a:r>
              <a:rPr lang="en-US" sz="3600" b="1" dirty="0">
                <a:ea typeface="+mn-ea"/>
                <a:cs typeface="+mn-cs"/>
              </a:rPr>
              <a:t>Generally accepted failure theories</a:t>
            </a:r>
          </a:p>
        </p:txBody>
      </p:sp>
      <p:sp>
        <p:nvSpPr>
          <p:cNvPr id="3" name="Content Placeholder 2">
            <a:extLst>
              <a:ext uri="{FF2B5EF4-FFF2-40B4-BE49-F238E27FC236}">
                <a16:creationId xmlns:a16="http://schemas.microsoft.com/office/drawing/2014/main" id="{4AD31109-2D43-EFE4-4143-DCAEC59D9800}"/>
              </a:ext>
            </a:extLst>
          </p:cNvPr>
          <p:cNvSpPr>
            <a:spLocks noGrp="1"/>
          </p:cNvSpPr>
          <p:nvPr>
            <p:ph idx="1"/>
          </p:nvPr>
        </p:nvSpPr>
        <p:spPr/>
        <p:txBody>
          <a:bodyPr>
            <a:normAutofit fontScale="92500" lnSpcReduction="20000"/>
          </a:bodyPr>
          <a:lstStyle/>
          <a:p>
            <a:r>
              <a:rPr lang="en-US" altLang="en-US" dirty="0">
                <a:solidFill>
                  <a:schemeClr val="tx1"/>
                </a:solidFill>
              </a:rPr>
              <a:t>Ductile materials (yield criteria)</a:t>
            </a:r>
          </a:p>
          <a:p>
            <a:pPr marL="863600" indent="-406400"/>
            <a:r>
              <a:rPr lang="en-US" dirty="0"/>
              <a:t>Maximum shear stress (MSS)</a:t>
            </a:r>
          </a:p>
          <a:p>
            <a:pPr marL="863600" indent="-406400"/>
            <a:r>
              <a:rPr lang="en-US" dirty="0"/>
              <a:t>Distortion energy (DE)</a:t>
            </a:r>
          </a:p>
          <a:p>
            <a:pPr marL="863600" indent="-406400"/>
            <a:r>
              <a:rPr lang="en-US" dirty="0"/>
              <a:t>Ductile Coulomb-Mohr (DCM)</a:t>
            </a:r>
          </a:p>
          <a:p>
            <a:endParaRPr lang="en-US" dirty="0"/>
          </a:p>
          <a:p>
            <a:r>
              <a:rPr lang="en-US" dirty="0">
                <a:solidFill>
                  <a:schemeClr val="tx1"/>
                </a:solidFill>
              </a:rPr>
              <a:t>Brittle Materials (fracture criteria)</a:t>
            </a:r>
          </a:p>
          <a:p>
            <a:pPr marL="914400" indent="-457200"/>
            <a:r>
              <a:rPr lang="en-US" dirty="0"/>
              <a:t>Maximum normal stress (MNS)</a:t>
            </a:r>
          </a:p>
          <a:p>
            <a:pPr marL="914400" indent="-457200"/>
            <a:r>
              <a:rPr lang="en-US" dirty="0"/>
              <a:t>Brittle Coulomb-Mohr (BCM)</a:t>
            </a:r>
          </a:p>
          <a:p>
            <a:pPr marL="914400" indent="-457200"/>
            <a:r>
              <a:rPr lang="en-US" dirty="0"/>
              <a:t>Modified Mohr (MM)</a:t>
            </a:r>
          </a:p>
          <a:p>
            <a:endParaRPr lang="en-US" dirty="0"/>
          </a:p>
          <a:p>
            <a:endParaRPr lang="en-US" sz="4000" dirty="0">
              <a:latin typeface="Arial" panose="020B0604020202020204" pitchFamily="34" charset="0"/>
              <a:cs typeface="Arial" panose="020B0604020202020204" pitchFamily="34" charset="0"/>
            </a:endParaRPr>
          </a:p>
          <a:p>
            <a:endParaRPr lang="en-US" sz="4000" dirty="0">
              <a:latin typeface="Arial" panose="020B0604020202020204" pitchFamily="34" charset="0"/>
              <a:cs typeface="Arial" panose="020B0604020202020204" pitchFamily="34" charset="0"/>
            </a:endParaRPr>
          </a:p>
          <a:p>
            <a:pPr marL="57150" indent="0">
              <a:buNone/>
            </a:pPr>
            <a:endParaRPr lang="en-US" sz="40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474BB3-45DA-870C-F087-FE262AD80A5C}"/>
              </a:ext>
            </a:extLst>
          </p:cNvPr>
          <p:cNvSpPr>
            <a:spLocks noGrp="1"/>
          </p:cNvSpPr>
          <p:nvPr>
            <p:ph type="sldNum" sz="quarter" idx="12"/>
          </p:nvPr>
        </p:nvSpPr>
        <p:spPr/>
        <p:txBody>
          <a:bodyPr/>
          <a:lstStyle/>
          <a:p>
            <a:fld id="{6BBD800B-B06C-425E-A9D9-2DFB2FADB111}" type="slidenum">
              <a:rPr lang="en-US" smtClean="0"/>
              <a:t>9</a:t>
            </a:fld>
            <a:endParaRPr lang="en-US" dirty="0"/>
          </a:p>
        </p:txBody>
      </p:sp>
      <p:sp>
        <p:nvSpPr>
          <p:cNvPr id="5" name="AutoShape 2" descr="The figure illustrates the convenient frames for specifying the positions of objects in a room and an airplane.">
            <a:extLst>
              <a:ext uri="{FF2B5EF4-FFF2-40B4-BE49-F238E27FC236}">
                <a16:creationId xmlns:a16="http://schemas.microsoft.com/office/drawing/2014/main" id="{7C879EF0-3227-37AD-D36E-A31573283E5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78453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C31F5D08789343B4201639FD5DEB3E" ma:contentTypeVersion="17" ma:contentTypeDescription="Create a new document." ma:contentTypeScope="" ma:versionID="f3609e269fa9204250d1cac6ceb774fa">
  <xsd:schema xmlns:xsd="http://www.w3.org/2001/XMLSchema" xmlns:xs="http://www.w3.org/2001/XMLSchema" xmlns:p="http://schemas.microsoft.com/office/2006/metadata/properties" xmlns:ns1="http://schemas.microsoft.com/sharepoint/v3" xmlns:ns3="00da9a6e-43e3-461e-a73b-f6595326113c" xmlns:ns4="dc03ed79-fc29-4865-8c22-6ff211da917b" targetNamespace="http://schemas.microsoft.com/office/2006/metadata/properties" ma:root="true" ma:fieldsID="2dff344a1d351ab73a14a32e4b314809" ns1:_="" ns3:_="" ns4:_="">
    <xsd:import namespace="http://schemas.microsoft.com/sharepoint/v3"/>
    <xsd:import namespace="00da9a6e-43e3-461e-a73b-f6595326113c"/>
    <xsd:import namespace="dc03ed79-fc29-4865-8c22-6ff211da917b"/>
    <xsd:element name="properties">
      <xsd:complexType>
        <xsd:sequence>
          <xsd:element name="documentManagement">
            <xsd:complexType>
              <xsd:all>
                <xsd:element ref="ns1:_ip_UnifiedCompliancePolicyProperties" minOccurs="0"/>
                <xsd:element ref="ns1:_ip_UnifiedCompliancePolicyUIAction" minOccurs="0"/>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ystemTags" minOccurs="0"/>
                <xsd:element ref="ns3:MediaServiceOCR" minOccurs="0"/>
                <xsd:element ref="ns3:MediaServiceGenerationTime" minOccurs="0"/>
                <xsd:element ref="ns3:MediaServiceEventHashCode" minOccurs="0"/>
                <xsd:element ref="ns3:MediaServiceSearchProperties" minOccurs="0"/>
                <xsd:element ref="ns3:MediaServiceDateTaken"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8" nillable="true" ma:displayName="Unified Compliance Policy Properties" ma:hidden="true" ma:internalName="_ip_UnifiedCompliancePolicyProperties">
      <xsd:simpleType>
        <xsd:restriction base="dms:Note"/>
      </xsd:simpleType>
    </xsd:element>
    <xsd:element name="_ip_UnifiedCompliancePolicyUIAction" ma:index="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0da9a6e-43e3-461e-a73b-f6595326113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03ed79-fc29-4865-8c22-6ff211da917b"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00da9a6e-43e3-461e-a73b-f6595326113c" xsi:nil="true"/>
  </documentManagement>
</p:properties>
</file>

<file path=customXml/itemProps1.xml><?xml version="1.0" encoding="utf-8"?>
<ds:datastoreItem xmlns:ds="http://schemas.openxmlformats.org/officeDocument/2006/customXml" ds:itemID="{D26325FD-46A7-4CD4-9DED-DF1D8DD79C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0da9a6e-43e3-461e-a73b-f6595326113c"/>
    <ds:schemaRef ds:uri="dc03ed79-fc29-4865-8c22-6ff211da917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0C74657-00A0-4F65-8D55-D83E93F151C1}">
  <ds:schemaRefs>
    <ds:schemaRef ds:uri="http://schemas.microsoft.com/sharepoint/v3/contenttype/forms"/>
  </ds:schemaRefs>
</ds:datastoreItem>
</file>

<file path=customXml/itemProps3.xml><?xml version="1.0" encoding="utf-8"?>
<ds:datastoreItem xmlns:ds="http://schemas.openxmlformats.org/officeDocument/2006/customXml" ds:itemID="{38C5F1E4-B424-444D-BBE5-8F21E2415B8C}">
  <ds:schemaRefs>
    <ds:schemaRef ds:uri="http://schemas.microsoft.com/sharepoint/v3"/>
    <ds:schemaRef ds:uri="00da9a6e-43e3-461e-a73b-f6595326113c"/>
    <ds:schemaRef ds:uri="http://purl.org/dc/terms/"/>
    <ds:schemaRef ds:uri="http://schemas.microsoft.com/office/2006/documentManagement/types"/>
    <ds:schemaRef ds:uri="http://schemas.microsoft.com/office/infopath/2007/PartnerControls"/>
    <ds:schemaRef ds:uri="http://purl.org/dc/elements/1.1/"/>
    <ds:schemaRef ds:uri="http://schemas.openxmlformats.org/package/2006/metadata/core-properties"/>
    <ds:schemaRef ds:uri="dc03ed79-fc29-4865-8c22-6ff211da917b"/>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12687</TotalTime>
  <Words>588</Words>
  <Application>Microsoft Office PowerPoint</Application>
  <PresentationFormat>Widescreen</PresentationFormat>
  <Paragraphs>84</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Baskerville Old Face</vt:lpstr>
      <vt:lpstr>Bookman Old Style</vt:lpstr>
      <vt:lpstr>Calibri</vt:lpstr>
      <vt:lpstr>Cambria Math</vt:lpstr>
      <vt:lpstr>Office Theme</vt:lpstr>
      <vt:lpstr>MEEG 3379 Elements of Mechanical Design</vt:lpstr>
      <vt:lpstr>Ch 5: Failures resulting from static loading</vt:lpstr>
      <vt:lpstr>Concept of failure</vt:lpstr>
      <vt:lpstr>Why does failure happen?</vt:lpstr>
      <vt:lpstr>Four design categories</vt:lpstr>
      <vt:lpstr>Discussion</vt:lpstr>
      <vt:lpstr>Static load</vt:lpstr>
      <vt:lpstr>Background of failure theories</vt:lpstr>
      <vt:lpstr>Generally accepted failure theories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ETME 1110 First Year Experience - Mechanical Engineering Technology</dc:title>
  <dc:creator>Reviewer</dc:creator>
  <cp:lastModifiedBy>Shweta Dabetwar</cp:lastModifiedBy>
  <cp:revision>1210</cp:revision>
  <dcterms:created xsi:type="dcterms:W3CDTF">2016-08-20T19:47:40Z</dcterms:created>
  <dcterms:modified xsi:type="dcterms:W3CDTF">2026-01-27T19:09:55Z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0x010100BEC31F5D08789343B4201639FD5DEB3E</vt:lpwstr>
  </property>
</Properties>
</file>